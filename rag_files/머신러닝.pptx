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339" r:id="rId2"/>
    <p:sldId id="1049" r:id="rId3"/>
    <p:sldId id="1062" r:id="rId4"/>
    <p:sldId id="1063" r:id="rId5"/>
    <p:sldId id="1061" r:id="rId6"/>
    <p:sldId id="1064" r:id="rId7"/>
    <p:sldId id="1067" r:id="rId8"/>
    <p:sldId id="1068" r:id="rId9"/>
    <p:sldId id="1076" r:id="rId10"/>
  </p:sldIdLst>
  <p:sldSz cx="12192000" cy="6858000"/>
  <p:notesSz cx="6858000" cy="9144000"/>
  <p:embeddedFontLst>
    <p:embeddedFont>
      <p:font typeface="나눔스퀘어라운드 ExtraBold" panose="020B0600000101010101" pitchFamily="50" charset="-127"/>
      <p:bold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2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7D07"/>
    <a:srgbClr val="F53B57"/>
    <a:srgbClr val="4182B8"/>
    <a:srgbClr val="4678C8"/>
    <a:srgbClr val="467DC3"/>
    <a:srgbClr val="323232"/>
    <a:srgbClr val="007C1D"/>
    <a:srgbClr val="646464"/>
    <a:srgbClr val="FEC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5267" autoAdjust="0"/>
  </p:normalViewPr>
  <p:slideViewPr>
    <p:cSldViewPr snapToGrid="0">
      <p:cViewPr varScale="1">
        <p:scale>
          <a:sx n="93" d="100"/>
          <a:sy n="93" d="100"/>
        </p:scale>
        <p:origin x="96" y="102"/>
      </p:cViewPr>
      <p:guideLst>
        <p:guide pos="52"/>
        <p:guide orient="horz" pos="75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19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</a:lstStyle>
          <a:p>
            <a:fld id="{0E29F860-961F-491A-A914-95D82E5802CC}" type="datetimeFigureOut">
              <a:rPr lang="ko-KR" altLang="en-US" smtClean="0"/>
              <a:pPr/>
              <a:t>2025-08-11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</a:lstStyle>
          <a:p>
            <a:fld id="{602EDEAE-B336-4AA4-9A5B-F913139DBA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998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라운드 ExtraBold" panose="020B0600000101010101" pitchFamily="50" charset="-127"/>
        <a:ea typeface="나눔스퀘어라운드 ExtraBold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라운드 ExtraBold" panose="020B0600000101010101" pitchFamily="50" charset="-127"/>
        <a:ea typeface="나눔스퀘어라운드 ExtraBold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라운드 ExtraBold" panose="020B0600000101010101" pitchFamily="50" charset="-127"/>
        <a:ea typeface="나눔스퀘어라운드 ExtraBold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라운드 ExtraBold" panose="020B0600000101010101" pitchFamily="50" charset="-127"/>
        <a:ea typeface="나눔스퀘어라운드 ExtraBold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라운드 ExtraBold" panose="020B0600000101010101" pitchFamily="50" charset="-127"/>
        <a:ea typeface="나눔스퀘어라운드 ExtraBold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37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638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854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113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218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119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737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192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D7483-69EB-4418-A6B6-6020BC1BC4F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76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B3CF185-F6F4-4C8C-94D2-282FE655FDC8}"/>
              </a:ext>
            </a:extLst>
          </p:cNvPr>
          <p:cNvSpPr/>
          <p:nvPr userDrawn="1"/>
        </p:nvSpPr>
        <p:spPr>
          <a:xfrm>
            <a:off x="366278" y="973466"/>
            <a:ext cx="11485752" cy="65936"/>
          </a:xfrm>
          <a:prstGeom prst="rect">
            <a:avLst/>
          </a:prstGeom>
          <a:gradFill>
            <a:gsLst>
              <a:gs pos="21000">
                <a:srgbClr val="4182B8"/>
              </a:gs>
              <a:gs pos="100000">
                <a:srgbClr val="FFC63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순서도: 수동 입력 9">
            <a:extLst>
              <a:ext uri="{FF2B5EF4-FFF2-40B4-BE49-F238E27FC236}">
                <a16:creationId xmlns:a16="http://schemas.microsoft.com/office/drawing/2014/main" id="{012D3E23-C795-4FFD-ACE8-85D1D45ADA6C}"/>
              </a:ext>
            </a:extLst>
          </p:cNvPr>
          <p:cNvSpPr/>
          <p:nvPr userDrawn="1"/>
        </p:nvSpPr>
        <p:spPr>
          <a:xfrm rot="16200000" flipH="1">
            <a:off x="10471193" y="-341435"/>
            <a:ext cx="592905" cy="2168768"/>
          </a:xfrm>
          <a:prstGeom prst="flowChartManualInput">
            <a:avLst/>
          </a:prstGeom>
          <a:gradFill>
            <a:gsLst>
              <a:gs pos="21000">
                <a:srgbClr val="D6B752"/>
              </a:gs>
              <a:gs pos="100000">
                <a:srgbClr val="FFC63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6278" y="154344"/>
            <a:ext cx="626420" cy="72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54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1C537EC-D28F-4E16-85F2-8D639F74EA32}"/>
              </a:ext>
            </a:extLst>
          </p:cNvPr>
          <p:cNvSpPr/>
          <p:nvPr userDrawn="1"/>
        </p:nvSpPr>
        <p:spPr>
          <a:xfrm>
            <a:off x="0" y="0"/>
            <a:ext cx="3387969" cy="6858000"/>
          </a:xfrm>
          <a:prstGeom prst="rect">
            <a:avLst/>
          </a:prstGeom>
          <a:gradFill>
            <a:gsLst>
              <a:gs pos="21000">
                <a:srgbClr val="4182B8"/>
              </a:gs>
              <a:gs pos="100000">
                <a:srgbClr val="FFC63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037A7D7-5357-4713-A6B6-9C8673F011BD}"/>
              </a:ext>
            </a:extLst>
          </p:cNvPr>
          <p:cNvCxnSpPr>
            <a:cxnSpLocks/>
          </p:cNvCxnSpPr>
          <p:nvPr userDrawn="1"/>
        </p:nvCxnSpPr>
        <p:spPr>
          <a:xfrm>
            <a:off x="433754" y="1336431"/>
            <a:ext cx="256735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D05CB55-84F2-4B37-904F-5658BD84E20F}"/>
              </a:ext>
            </a:extLst>
          </p:cNvPr>
          <p:cNvCxnSpPr>
            <a:cxnSpLocks/>
          </p:cNvCxnSpPr>
          <p:nvPr userDrawn="1"/>
        </p:nvCxnSpPr>
        <p:spPr>
          <a:xfrm>
            <a:off x="410307" y="2801816"/>
            <a:ext cx="256735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3260" y="315474"/>
            <a:ext cx="626420" cy="723623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94805" y="415924"/>
            <a:ext cx="223503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dirty="0" smtClean="0">
                <a:solidFill>
                  <a:schemeClr val="bg1"/>
                </a:solidFill>
              </a:rPr>
              <a:t>인공지능 개론</a:t>
            </a:r>
            <a:endParaRPr lang="ko-KR" alt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744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8220AFF-BCD0-4021-88C9-0948D7BE56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4182B8"/>
              </a:gs>
              <a:gs pos="100000">
                <a:srgbClr val="FFC63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4AD1C54-A706-41B4-9670-E6FA5946D5D2}"/>
              </a:ext>
            </a:extLst>
          </p:cNvPr>
          <p:cNvSpPr/>
          <p:nvPr userDrawn="1"/>
        </p:nvSpPr>
        <p:spPr>
          <a:xfrm>
            <a:off x="568545" y="2192216"/>
            <a:ext cx="3555627" cy="8909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96A41-A3E1-4CB1-904D-5B086C949C1E}"/>
              </a:ext>
            </a:extLst>
          </p:cNvPr>
          <p:cNvSpPr txBox="1"/>
          <p:nvPr userDrawn="1"/>
        </p:nvSpPr>
        <p:spPr>
          <a:xfrm>
            <a:off x="886089" y="2333582"/>
            <a:ext cx="296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rgbClr val="4182B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다음시간에는</a:t>
            </a:r>
            <a:r>
              <a:rPr lang="en-US" altLang="ko-KR" sz="3600" dirty="0">
                <a:solidFill>
                  <a:srgbClr val="4182B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36026AE-0726-43B4-9CF6-FF555E371CAA}"/>
              </a:ext>
            </a:extLst>
          </p:cNvPr>
          <p:cNvCxnSpPr/>
          <p:nvPr userDrawn="1"/>
        </p:nvCxnSpPr>
        <p:spPr>
          <a:xfrm>
            <a:off x="708642" y="5372100"/>
            <a:ext cx="1081025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129" y="1177465"/>
            <a:ext cx="626420" cy="723623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1723674" y="1277915"/>
            <a:ext cx="223503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dirty="0" smtClean="0">
                <a:solidFill>
                  <a:schemeClr val="bg1"/>
                </a:solidFill>
              </a:rPr>
              <a:t>인공지능 개론</a:t>
            </a:r>
            <a:endParaRPr lang="ko-KR" alt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394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1CE8B-833C-47C3-8083-08840FA0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61F9B9-FC36-4732-8310-C15DDA7B2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C60954-2DC4-4DB5-91CD-EE3DC0A65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81E0D9-9B78-498C-9C74-E958B27E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AC0AC9-BB14-4843-86DE-9A96F5FB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C40A77-CE12-421C-9B24-184773C8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998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D8E8D-D180-4FEA-8A37-FB9E2A61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995F29-AFF1-4A20-8914-766B9B98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55A78A-6FEA-461D-9C77-1825131C8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839CD0-F9ED-4700-90E1-4376FBD58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F976F2-A478-4971-8694-C78D88AFC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9CDEF-E0B7-4D56-B1C3-B7460990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7AB627-CD24-4086-B60F-1DEF70A5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80FB37-8E2D-40EF-8D31-5072CC93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799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502BE-4D2A-488B-9295-40403DDB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834D93-9BC3-487B-AFBD-B9EDF2B5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C47553-6955-406E-8169-E7F444D1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82EE87-B5FA-458A-8F98-11C9058C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93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DDEB70-82E5-4CA7-9ADF-E212D151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36798C-8F65-4632-BF8E-4A2C9DB1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84B1A-8DB7-4A71-9187-9D1E0D95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02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6EBFD-6DBC-42FB-A414-CB1D70FA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D9052-8946-4DBB-8F40-A9066CF3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9C65DD-5993-4522-B5D0-AA648ED95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2FC209-9F3F-4A58-BFAD-F230F975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1D494-7385-4512-B4AF-25297D12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C58571-68A0-4E25-85E6-3CA68422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69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EC4A3-3BB6-414A-BE95-0D7718D5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7F9AAF-6BF4-456D-95EB-2EBC45E27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FE0349-1012-4EB0-84A8-A2EB57B1F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CCBA-1E88-4164-9851-7FF95538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BBDADF-B852-4B4F-8B41-1370D5F4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EC8E35-D995-409C-AB8F-B8FBCD17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94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E6E50-92AD-425E-B94A-BD2DC5C4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A1900A-6BB4-4387-A50B-4CB70367F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08444-C95A-4776-8092-E4A9FF6F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DA51EC-7C5D-4D94-941D-DCE2EB7F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2A553-6863-409F-B492-99AADBD9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40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C029EA-D5F2-4C1D-AD63-890DFC65B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51D734-EB78-4757-876C-8621A108A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9DC9C7-7636-4E24-9C6E-10A427B0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2575B-38B4-4E77-B612-87DD089F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CDF8AF-85C3-493C-9CCB-6F03F417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3046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65491" y="533401"/>
            <a:ext cx="5030511" cy="2514601"/>
          </a:xfrm>
        </p:spPr>
        <p:txBody>
          <a:bodyPr>
            <a:normAutofit/>
          </a:bodyPr>
          <a:lstStyle>
            <a:lvl1pPr latinLnBrk="1">
              <a:defRPr lang="ko-KR" sz="5465"/>
            </a:lvl1pPr>
          </a:lstStyle>
          <a:p>
            <a:r>
              <a:rPr lang="ko-KR" altLang="en-US"/>
              <a:t>마스터 제목 스타일 편집</a:t>
            </a:r>
            <a:endParaRPr lang="ko-KR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065491" y="3403601"/>
            <a:ext cx="5030511" cy="1396999"/>
          </a:xfrm>
        </p:spPr>
        <p:txBody>
          <a:bodyPr>
            <a:normAutofit/>
          </a:bodyPr>
          <a:lstStyle>
            <a:lvl1pPr marL="0" indent="0" algn="l" latinLnBrk="1">
              <a:spcBef>
                <a:spcPts val="600"/>
              </a:spcBef>
              <a:buNone/>
              <a:defRPr lang="ko-KR" sz="23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73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2pPr>
            <a:lvl3pPr marL="914347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3pPr>
            <a:lvl4pPr marL="1371519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4pPr>
            <a:lvl5pPr marL="1828693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5pPr>
            <a:lvl6pPr marL="2285866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6pPr>
            <a:lvl7pPr marL="274304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7pPr>
            <a:lvl8pPr marL="3200213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8pPr>
            <a:lvl9pPr marL="3657387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6190-4441-43F1-A061-BEBD0B51FCD4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FB78A-305F-49FD-B257-06DB592FE7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277970"/>
      </p:ext>
    </p:extLst>
  </p:cSld>
  <p:clrMapOvr>
    <a:masterClrMapping/>
  </p:clrMapOvr>
  <p:transition spd="med">
    <p:cut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956746-2A69-4918-939A-495D6D87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07A97-52B3-41B7-88DA-B97D9059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672F2-39C7-400D-AD4C-5614492EE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5393B-E305-464D-9E67-9DECB7A95015}" type="datetimeFigureOut">
              <a:rPr lang="ko-KR" altLang="en-US" smtClean="0"/>
              <a:t>2025-08-11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60F15B-9348-4C66-9D12-A22CFE9BA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5FC19B-85F2-4216-BB17-634FB0DAA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87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머신러닝</a:t>
            </a:r>
            <a:r>
              <a:rPr lang="en-US" altLang="ko-KR" dirty="0"/>
              <a:t>(Machine Learning : ML)</a:t>
            </a:r>
            <a:r>
              <a:rPr lang="ko-KR" altLang="en-US" dirty="0"/>
              <a:t>의 정의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1325217" y="1812572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‘</a:t>
            </a: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기계학습</a:t>
            </a:r>
            <a:r>
              <a:rPr lang="ko-KR" altLang="en-US" sz="2000" dirty="0" err="1">
                <a:latin typeface="+mn-ea"/>
              </a:rPr>
              <a:t>’으로도</a:t>
            </a:r>
            <a:r>
              <a:rPr lang="ko-KR" altLang="en-US" sz="2000" dirty="0">
                <a:latin typeface="+mn-ea"/>
              </a:rPr>
              <a:t> 불리는 인공지능의 한 분야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인간의 학습 능력을 컴퓨터로 실현하려는 기법 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1959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년 아서 </a:t>
            </a: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새무얼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(Arthur Samuel)</a:t>
            </a:r>
            <a:r>
              <a:rPr lang="ko-KR" altLang="en-US" sz="2000" dirty="0">
                <a:latin typeface="+mn-ea"/>
              </a:rPr>
              <a:t>이 최초로 정의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“</a:t>
            </a:r>
            <a:r>
              <a:rPr lang="ko-KR" altLang="en-US" sz="2000" dirty="0">
                <a:latin typeface="+mn-ea"/>
              </a:rPr>
              <a:t>프로그램을 명시적으로 작성하지 않고 컴퓨터에 </a:t>
            </a:r>
            <a:r>
              <a:rPr lang="ko-KR" altLang="en-US" sz="2000" dirty="0" smtClean="0">
                <a:latin typeface="+mn-ea"/>
              </a:rPr>
              <a:t>학습할 </a:t>
            </a:r>
            <a:r>
              <a:rPr lang="ko-KR" altLang="en-US" sz="2000" dirty="0">
                <a:latin typeface="+mn-ea"/>
              </a:rPr>
              <a:t>수 있는 능력을 부여하기 위한 연구 분야이다</a:t>
            </a:r>
            <a:r>
              <a:rPr lang="en-US" altLang="ko-KR" sz="2000" dirty="0">
                <a:latin typeface="+mn-ea"/>
              </a:rPr>
              <a:t>.”</a:t>
            </a:r>
            <a:endParaRPr lang="ko-KR" altLang="en-US" sz="2000" dirty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1998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년 톰 미첼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(Tom M. Mitchell)</a:t>
            </a:r>
            <a:r>
              <a:rPr lang="ko-KR" altLang="en-US" sz="2000" dirty="0">
                <a:latin typeface="+mn-ea"/>
              </a:rPr>
              <a:t>이 구체적으로 정의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‘</a:t>
            </a:r>
            <a:r>
              <a:rPr lang="ko-KR" altLang="en-US" sz="2000" dirty="0">
                <a:latin typeface="+mn-ea"/>
              </a:rPr>
              <a:t>머신</a:t>
            </a:r>
            <a:r>
              <a:rPr lang="en-US" altLang="ko-KR" sz="2000" dirty="0">
                <a:latin typeface="+mn-ea"/>
              </a:rPr>
              <a:t>(machine)’</a:t>
            </a:r>
            <a:r>
              <a:rPr lang="ko-KR" altLang="en-US" sz="2000" dirty="0">
                <a:latin typeface="+mn-ea"/>
              </a:rPr>
              <a:t>은 컴퓨터</a:t>
            </a:r>
            <a:r>
              <a:rPr lang="en-US" altLang="ko-KR" sz="2000" dirty="0">
                <a:latin typeface="+mn-ea"/>
              </a:rPr>
              <a:t>, ‘</a:t>
            </a:r>
            <a:r>
              <a:rPr lang="ko-KR" altLang="en-US" sz="2000" dirty="0">
                <a:latin typeface="+mn-ea"/>
              </a:rPr>
              <a:t>러닝</a:t>
            </a:r>
            <a:r>
              <a:rPr lang="en-US" altLang="ko-KR" sz="2000" dirty="0">
                <a:latin typeface="+mn-ea"/>
              </a:rPr>
              <a:t>(learning)’</a:t>
            </a:r>
            <a:r>
              <a:rPr lang="ko-KR" altLang="en-US" sz="2000" dirty="0">
                <a:latin typeface="+mn-ea"/>
              </a:rPr>
              <a:t>은 </a:t>
            </a:r>
            <a:r>
              <a:rPr lang="ko-KR" altLang="en-US" sz="2000" dirty="0" smtClean="0">
                <a:latin typeface="+mn-ea"/>
              </a:rPr>
              <a:t>학습 </a:t>
            </a:r>
            <a:r>
              <a:rPr lang="en-US" altLang="ko-KR" sz="2000" dirty="0" smtClean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dirty="0" err="1" smtClean="0">
                <a:latin typeface="+mn-ea"/>
              </a:rPr>
              <a:t>머신러닝이란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‘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컴퓨터를 통한 </a:t>
            </a: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학습</a:t>
            </a:r>
            <a:r>
              <a:rPr lang="ko-KR" altLang="en-US" sz="2000" dirty="0" err="1">
                <a:latin typeface="+mn-ea"/>
              </a:rPr>
              <a:t>’을</a:t>
            </a:r>
            <a:r>
              <a:rPr lang="ko-KR" altLang="en-US" sz="2000" dirty="0">
                <a:latin typeface="+mn-ea"/>
              </a:rPr>
              <a:t> 나타냄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322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716" y="4582074"/>
            <a:ext cx="3381356" cy="1885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880810" y="6248584"/>
            <a:ext cx="24871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/>
              <a:t>머신러닝의</a:t>
            </a:r>
            <a:r>
              <a:rPr lang="ko-KR" altLang="en-US" dirty="0" smtClean="0"/>
              <a:t> 분야들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62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머신러닝의</a:t>
            </a:r>
            <a:r>
              <a:rPr lang="ko-KR" altLang="en-US" dirty="0"/>
              <a:t> 다양한 정의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1325217" y="1812572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“</a:t>
            </a:r>
            <a:r>
              <a:rPr lang="ko-KR" altLang="en-US" sz="2000" dirty="0" err="1">
                <a:latin typeface="+mn-ea"/>
              </a:rPr>
              <a:t>머신러닝은</a:t>
            </a:r>
            <a:r>
              <a:rPr lang="ko-KR" altLang="en-US" sz="2000" dirty="0">
                <a:latin typeface="+mn-ea"/>
              </a:rPr>
              <a:t> 명시적으로 프로그래밍하지 않고도 </a:t>
            </a:r>
            <a:r>
              <a:rPr lang="ko-KR" altLang="en-US" sz="2000" dirty="0" smtClean="0">
                <a:latin typeface="+mn-ea"/>
              </a:rPr>
              <a:t>컴퓨터를 </a:t>
            </a:r>
            <a:r>
              <a:rPr lang="ko-KR" altLang="en-US" sz="2000" dirty="0">
                <a:latin typeface="+mn-ea"/>
              </a:rPr>
              <a:t>작동시키는 과학이다</a:t>
            </a:r>
            <a:r>
              <a:rPr lang="en-US" altLang="ko-KR" sz="2000" dirty="0">
                <a:latin typeface="+mn-ea"/>
              </a:rPr>
              <a:t>.”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ko-KR" altLang="en-US" sz="2000" dirty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“</a:t>
            </a:r>
            <a:r>
              <a:rPr lang="ko-KR" altLang="en-US" sz="2000" dirty="0" err="1">
                <a:latin typeface="+mn-ea"/>
              </a:rPr>
              <a:t>머신러닝은</a:t>
            </a:r>
            <a:r>
              <a:rPr lang="ko-KR" altLang="en-US" sz="2000" dirty="0">
                <a:latin typeface="+mn-ea"/>
              </a:rPr>
              <a:t> 규칙기반 프로그래밍에 의존하지 않고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데이터로부터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학습</a:t>
            </a:r>
            <a:r>
              <a:rPr lang="ko-KR" altLang="en-US" sz="2000" dirty="0">
                <a:latin typeface="+mn-ea"/>
              </a:rPr>
              <a:t>할 수 있는 알고리즘을 기반으로 한다</a:t>
            </a:r>
            <a:r>
              <a:rPr lang="en-US" altLang="ko-KR" sz="2000" dirty="0">
                <a:latin typeface="+mn-ea"/>
              </a:rPr>
              <a:t>.”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ko-KR" altLang="en-US" sz="2000" dirty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“</a:t>
            </a:r>
            <a:r>
              <a:rPr lang="ko-KR" altLang="en-US" sz="2000" dirty="0" err="1">
                <a:latin typeface="+mn-ea"/>
              </a:rPr>
              <a:t>머신러닝</a:t>
            </a:r>
            <a:r>
              <a:rPr lang="ko-KR" altLang="en-US" sz="2000" dirty="0">
                <a:latin typeface="+mn-ea"/>
              </a:rPr>
              <a:t> 알고리즘은 예제를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일반화</a:t>
            </a:r>
            <a:r>
              <a:rPr lang="ko-KR" altLang="en-US" sz="2000" dirty="0">
                <a:latin typeface="+mn-ea"/>
              </a:rPr>
              <a:t>하여 중요한 </a:t>
            </a:r>
            <a:r>
              <a:rPr lang="ko-KR" altLang="en-US" sz="2000" dirty="0" smtClean="0">
                <a:latin typeface="+mn-ea"/>
              </a:rPr>
              <a:t>작업을 </a:t>
            </a:r>
            <a:r>
              <a:rPr lang="ko-KR" altLang="en-US" sz="2000" dirty="0">
                <a:latin typeface="+mn-ea"/>
              </a:rPr>
              <a:t>수행하는 방법을 파악할 수 있다</a:t>
            </a:r>
            <a:r>
              <a:rPr lang="en-US" altLang="ko-KR" sz="2000" dirty="0">
                <a:latin typeface="+mn-ea"/>
              </a:rPr>
              <a:t>.” 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324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85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머신러닝과</a:t>
            </a:r>
            <a:r>
              <a:rPr lang="ko-KR" altLang="en-US" dirty="0"/>
              <a:t> 전통적인 프로그래밍과의 차이점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325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15" name="내용 개체 틀 4"/>
          <p:cNvSpPr txBox="1">
            <a:spLocks/>
          </p:cNvSpPr>
          <p:nvPr/>
        </p:nvSpPr>
        <p:spPr>
          <a:xfrm>
            <a:off x="1041819" y="1804540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/>
              <a:t>전통적인 프로그래밍에서는 모든 규칙들을 </a:t>
            </a:r>
            <a:r>
              <a:rPr lang="ko-KR" altLang="en-US" sz="2000" dirty="0" smtClean="0"/>
              <a:t>작성함 </a:t>
            </a:r>
            <a:r>
              <a:rPr lang="en-US" altLang="ko-KR" sz="2000" dirty="0" smtClean="0">
                <a:sym typeface="Wingdings" panose="05000000000000000000" pitchFamily="2" charset="2"/>
              </a:rPr>
              <a:t> </a:t>
            </a:r>
            <a:r>
              <a:rPr lang="ko-KR" altLang="en-US" sz="2000" dirty="0" smtClean="0"/>
              <a:t>만약 </a:t>
            </a:r>
            <a:r>
              <a:rPr lang="ko-KR" altLang="en-US" sz="2000" dirty="0"/>
              <a:t>규칙들이 추가로 작성될 경우 유지 관리가 어려운 문제점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/>
              <a:t>그러나 </a:t>
            </a:r>
            <a:r>
              <a:rPr lang="ko-KR" altLang="en-US" sz="2000" dirty="0" err="1"/>
              <a:t>머신러닝은</a:t>
            </a:r>
            <a:r>
              <a:rPr lang="ko-KR" altLang="en-US" sz="2000" dirty="0"/>
              <a:t> 시간에 따라 점차 효율이 </a:t>
            </a:r>
            <a:r>
              <a:rPr lang="ko-KR" altLang="en-US" sz="2000" dirty="0" smtClean="0"/>
              <a:t>향상됨 </a:t>
            </a:r>
            <a:r>
              <a:rPr lang="en-US" altLang="ko-KR" sz="2000" dirty="0" smtClean="0">
                <a:sym typeface="Wingdings" panose="05000000000000000000" pitchFamily="2" charset="2"/>
              </a:rPr>
              <a:t> </a:t>
            </a:r>
            <a:r>
              <a:rPr lang="ko-KR" altLang="en-US" sz="2000" dirty="0" smtClean="0"/>
              <a:t>입출력 </a:t>
            </a:r>
            <a:r>
              <a:rPr lang="ko-KR" altLang="en-US" sz="2000" dirty="0"/>
              <a:t>데이터의 관계를 학습하여 규칙을 생성 </a:t>
            </a: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42" y="3259083"/>
            <a:ext cx="5709094" cy="297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76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머신러닝과</a:t>
            </a:r>
            <a:r>
              <a:rPr lang="ko-KR" altLang="en-US" dirty="0"/>
              <a:t> 전통적인 프로그래밍과의 차이점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326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15" name="내용 개체 틀 4"/>
          <p:cNvSpPr txBox="1">
            <a:spLocks/>
          </p:cNvSpPr>
          <p:nvPr/>
        </p:nvSpPr>
        <p:spPr>
          <a:xfrm>
            <a:off x="1041819" y="1804540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/>
              <a:t>프로그래밍에서는 </a:t>
            </a:r>
            <a:r>
              <a:rPr lang="ko-KR" altLang="en-US" sz="2000" dirty="0">
                <a:solidFill>
                  <a:srgbClr val="0070C0"/>
                </a:solidFill>
              </a:rPr>
              <a:t>데이터와 규칙이 결합하여 출력을 생성 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머신러닝에서는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rgbClr val="0070C0"/>
                </a:solidFill>
              </a:rPr>
              <a:t>데이터와 출력이 함께 들어가서 규칙 생성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308" y="2852937"/>
            <a:ext cx="3781901" cy="3140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51543" y="5764614"/>
            <a:ext cx="44514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전통적인 </a:t>
            </a:r>
            <a:r>
              <a:rPr lang="ko-KR" altLang="en-US" dirty="0" err="1" smtClean="0"/>
              <a:t>프로그래밍와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머신러닝의</a:t>
            </a:r>
            <a:r>
              <a:rPr lang="ko-KR" altLang="en-US" dirty="0" smtClean="0"/>
              <a:t> 차이점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20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b="1" dirty="0" err="1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sym typeface="Wingdings" pitchFamily="2" charset="2"/>
              </a:rPr>
              <a:t>머신러닝</a:t>
            </a: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sym typeface="Wingdings" pitchFamily="2" charset="2"/>
              </a:rPr>
              <a:t> 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sym typeface="Wingdings" pitchFamily="2" charset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-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880110" y="3739913"/>
            <a:ext cx="2143598" cy="1665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Model</a:t>
            </a: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알고리즘</a:t>
            </a:r>
            <a:r>
              <a:rPr lang="en-US" altLang="ko-KR" sz="2000" dirty="0">
                <a:solidFill>
                  <a:schemeClr val="tx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endParaRPr lang="ko-KR" altLang="en-US" sz="2000" dirty="0">
              <a:solidFill>
                <a:schemeClr val="tx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오른쪽 화살표 15"/>
          <p:cNvSpPr/>
          <p:nvPr/>
        </p:nvSpPr>
        <p:spPr>
          <a:xfrm>
            <a:off x="4870175" y="4292647"/>
            <a:ext cx="736979" cy="55955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109615" y="4113790"/>
            <a:ext cx="1583140" cy="835383"/>
          </a:xfrm>
          <a:prstGeom prst="rect">
            <a:avLst/>
          </a:prstGeom>
        </p:spPr>
        <p:txBody>
          <a:bodyPr wrap="square" lIns="95781" tIns="47892" rIns="95781" bIns="47892">
            <a:spAutoFit/>
          </a:bodyPr>
          <a:lstStyle/>
          <a:p>
            <a:r>
              <a:rPr lang="en-US" altLang="ko-KR" sz="48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Data</a:t>
            </a:r>
          </a:p>
        </p:txBody>
      </p:sp>
      <p:sp>
        <p:nvSpPr>
          <p:cNvPr id="30" name="내용 개체 틀 4"/>
          <p:cNvSpPr txBox="1">
            <a:spLocks/>
          </p:cNvSpPr>
          <p:nvPr/>
        </p:nvSpPr>
        <p:spPr>
          <a:xfrm>
            <a:off x="1041819" y="1804540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학습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을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통해 기계가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스스로 규칙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을 만들어낸다</a:t>
            </a:r>
            <a:r>
              <a:rPr lang="en-US" altLang="ko-KR" sz="200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데이터와 결과를 이용하여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특성과 패턴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모델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을 찾아내고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학습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찾아낸 모델을 이용하여 새로운 데이터에 대한 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결과</a:t>
            </a:r>
            <a:r>
              <a:rPr lang="en-US" altLang="ko-KR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값</a:t>
            </a:r>
            <a:r>
              <a:rPr lang="en-US" altLang="ko-KR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분포</a:t>
            </a:r>
            <a:r>
              <a:rPr lang="en-US" altLang="ko-KR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r>
              <a:rPr lang="ko-KR" altLang="en-US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예측</a:t>
            </a:r>
            <a:r>
              <a:rPr lang="en-US" altLang="ko-KR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추론</a:t>
            </a:r>
            <a:r>
              <a:rPr lang="en-US" altLang="ko-KR" sz="1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하는 것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205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dirty="0" err="1"/>
              <a:t>머신러닝과</a:t>
            </a:r>
            <a:r>
              <a:rPr lang="ko-KR" altLang="en-US" dirty="0"/>
              <a:t> 인공지능과의 관계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sym typeface="Wingdings" pitchFamily="2" charset="2"/>
              </a:rPr>
              <a:t> 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sym typeface="Wingdings" pitchFamily="2" charset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326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내용 개체 틀 4"/>
          <p:cNvSpPr txBox="1">
            <a:spLocks/>
          </p:cNvSpPr>
          <p:nvPr/>
        </p:nvSpPr>
        <p:spPr>
          <a:xfrm>
            <a:off x="1041819" y="1804540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+mn-ea"/>
              </a:rPr>
              <a:t>머신러닝은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인공지능에 속하는 부분 집합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인공지능은 </a:t>
            </a:r>
            <a:r>
              <a:rPr lang="ko-KR" altLang="en-US" sz="2000" dirty="0" err="1">
                <a:latin typeface="+mn-ea"/>
              </a:rPr>
              <a:t>머신러닝을</a:t>
            </a:r>
            <a:r>
              <a:rPr lang="ko-KR" altLang="en-US" sz="2000" dirty="0">
                <a:latin typeface="+mn-ea"/>
              </a:rPr>
              <a:t> 포함하는 상위 개념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따라서 추구하는 개념과 목표가 다소 다름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인공지능은 추론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계획 등과 </a:t>
            </a:r>
            <a:r>
              <a:rPr lang="ko-KR" altLang="en-US" sz="2000" dirty="0" err="1">
                <a:latin typeface="+mn-ea"/>
              </a:rPr>
              <a:t>머신러닝을</a:t>
            </a:r>
            <a:r>
              <a:rPr lang="ko-KR" altLang="en-US" sz="2000" dirty="0">
                <a:latin typeface="+mn-ea"/>
              </a:rPr>
              <a:t> 포함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1" y="3645024"/>
            <a:ext cx="3544863" cy="2354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851543" y="5764614"/>
            <a:ext cx="44514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/>
              <a:t>머신러닝과</a:t>
            </a:r>
            <a:r>
              <a:rPr lang="ko-KR" altLang="en-US" dirty="0" smtClean="0"/>
              <a:t>  인공지능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13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머신러닝</a:t>
            </a:r>
            <a:r>
              <a:rPr lang="ko-KR" altLang="en-US" dirty="0"/>
              <a:t> 과정에서의 고려 사항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sym typeface="Wingdings" pitchFamily="2" charset="2"/>
              </a:rPr>
              <a:t> 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sym typeface="Wingdings" pitchFamily="2" charset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327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내용 개체 틀 4"/>
          <p:cNvSpPr txBox="1">
            <a:spLocks/>
          </p:cNvSpPr>
          <p:nvPr/>
        </p:nvSpPr>
        <p:spPr>
          <a:xfrm>
            <a:off x="1041819" y="1804540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b="1" dirty="0" err="1"/>
              <a:t>머신러닝</a:t>
            </a:r>
            <a:r>
              <a:rPr lang="ko-KR" altLang="en-US" sz="2000" b="1" dirty="0"/>
              <a:t> 구상과정에서의 고려 사항들</a:t>
            </a: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주어진 데이터로부터 원하는 답을 찾을 수 있을까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?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문제 해결을 위해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데이터가 충분한가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?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어떤 </a:t>
            </a: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머신러닝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기법을 적용하면 좋을까</a:t>
            </a:r>
            <a:r>
              <a:rPr lang="en-US" altLang="ko-KR" sz="2000" dirty="0">
                <a:latin typeface="+mn-ea"/>
              </a:rPr>
              <a:t>?</a:t>
            </a:r>
            <a:endParaRPr lang="ko-KR" altLang="en-US" sz="2000" dirty="0">
              <a:latin typeface="+mn-ea"/>
            </a:endParaRP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추출할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데이터의 특성</a:t>
            </a:r>
            <a:r>
              <a:rPr lang="ko-KR" altLang="en-US" sz="2000" dirty="0">
                <a:latin typeface="+mn-ea"/>
              </a:rPr>
              <a:t>은 무엇인가</a:t>
            </a:r>
            <a:r>
              <a:rPr lang="en-US" altLang="ko-KR" sz="2000" dirty="0">
                <a:latin typeface="+mn-ea"/>
              </a:rPr>
              <a:t>?</a:t>
            </a:r>
            <a:endParaRPr lang="ko-KR" altLang="en-US" sz="2000" dirty="0">
              <a:latin typeface="+mn-ea"/>
            </a:endParaRP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머신러닝의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 결론</a:t>
            </a:r>
            <a:r>
              <a:rPr lang="ko-KR" altLang="en-US" sz="2000" dirty="0">
                <a:latin typeface="+mn-ea"/>
              </a:rPr>
              <a:t>은 무엇으로 설정할 것인가</a:t>
            </a:r>
            <a:r>
              <a:rPr lang="en-US" altLang="ko-KR" sz="2000" dirty="0">
                <a:latin typeface="+mn-ea"/>
              </a:rPr>
              <a:t>?</a:t>
            </a:r>
            <a:endParaRPr lang="ko-KR" altLang="en-US" sz="2000" dirty="0">
              <a:latin typeface="+mn-ea"/>
            </a:endParaRP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생성된 출력을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실제 응용에 어떻게 사용</a:t>
            </a:r>
            <a:r>
              <a:rPr lang="ko-KR" altLang="en-US" sz="2000" dirty="0">
                <a:latin typeface="+mn-ea"/>
              </a:rPr>
              <a:t>할 것인가</a:t>
            </a:r>
            <a:r>
              <a:rPr lang="en-US" altLang="ko-KR" sz="2000" dirty="0">
                <a:latin typeface="+mn-ea"/>
              </a:rPr>
              <a:t>?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185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개요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머신러닝의</a:t>
            </a:r>
            <a:r>
              <a:rPr lang="ko-KR" altLang="en-US" dirty="0"/>
              <a:t> 종류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sym typeface="Wingdings" pitchFamily="2" charset="2"/>
              </a:rPr>
              <a:t> 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sym typeface="Wingdings" pitchFamily="2" charset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327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내용 개체 틀 4"/>
          <p:cNvSpPr txBox="1">
            <a:spLocks/>
          </p:cNvSpPr>
          <p:nvPr/>
        </p:nvSpPr>
        <p:spPr>
          <a:xfrm>
            <a:off x="1041819" y="1804540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분류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(Classification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)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smtClean="0">
                <a:latin typeface="+mn-ea"/>
              </a:rPr>
              <a:t>주어진 </a:t>
            </a:r>
            <a:r>
              <a:rPr lang="ko-KR" altLang="en-US" sz="2000" dirty="0">
                <a:latin typeface="+mn-ea"/>
              </a:rPr>
              <a:t>데이터를 비슷한 것들끼리 분류하는 </a:t>
            </a:r>
            <a:r>
              <a:rPr lang="ko-KR" altLang="en-US" sz="2000" dirty="0" smtClean="0">
                <a:latin typeface="+mn-ea"/>
              </a:rPr>
              <a:t>것</a:t>
            </a:r>
            <a:endParaRPr lang="en-US" altLang="ko-KR" sz="2000" dirty="0" smtClean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회귀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(Regression)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주어진 </a:t>
            </a:r>
            <a:r>
              <a:rPr lang="ko-KR" altLang="en-US" sz="2000" dirty="0" smtClean="0">
                <a:latin typeface="+mn-ea"/>
              </a:rPr>
              <a:t>데이터들로 부터 값을 추정하는 것</a:t>
            </a:r>
            <a:endParaRPr lang="en-US" altLang="ko-KR" sz="2000" dirty="0" smtClean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클러스터링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(Clustering)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주어진 데이터를 클러스터라는 부분 집합들로 분리하는 것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 err="1" smtClean="0">
                <a:solidFill>
                  <a:srgbClr val="0070C0"/>
                </a:solidFill>
                <a:latin typeface="+mn-ea"/>
              </a:rPr>
              <a:t>차원축소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ko-KR" sz="2000" dirty="0" err="1" smtClean="0">
                <a:solidFill>
                  <a:srgbClr val="0070C0"/>
                </a:solidFill>
                <a:latin typeface="+mn-ea"/>
              </a:rPr>
              <a:t>Demensionality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 Reduction) </a:t>
            </a:r>
            <a:r>
              <a:rPr lang="en-US" altLang="ko-KR" sz="2000" dirty="0" smtClean="0">
                <a:latin typeface="+mn-ea"/>
              </a:rPr>
              <a:t>:  </a:t>
            </a:r>
            <a:r>
              <a:rPr lang="ko-KR" altLang="en-US" sz="2000" dirty="0" smtClean="0">
                <a:latin typeface="+mn-ea"/>
              </a:rPr>
              <a:t>특성 추출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특성 선택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시각화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데이터 압축</a:t>
            </a:r>
            <a:endParaRPr lang="en-US" altLang="ko-KR" sz="2000" dirty="0" smtClean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KNN (</a:t>
            </a:r>
            <a:r>
              <a:rPr lang="ko-KR" altLang="en-US" sz="2000" dirty="0" err="1" smtClean="0">
                <a:solidFill>
                  <a:srgbClr val="0070C0"/>
                </a:solidFill>
                <a:latin typeface="+mn-ea"/>
              </a:rPr>
              <a:t>최근접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 이웃 알고리즘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)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/>
              <a:t>데이터를 가장 가까운 유사 속성에 따라 분류하여 데이터를 </a:t>
            </a:r>
            <a:r>
              <a:rPr lang="ko-KR" altLang="en-US" sz="2000" dirty="0" smtClean="0"/>
              <a:t>분류</a:t>
            </a:r>
            <a:endParaRPr lang="en-US" altLang="ko-KR" sz="2000" dirty="0" smtClean="0">
              <a:latin typeface="+mn-ea"/>
            </a:endParaRP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ko-KR" altLang="en-US" sz="2000" dirty="0" err="1" smtClean="0">
                <a:solidFill>
                  <a:srgbClr val="0070C0"/>
                </a:solidFill>
                <a:latin typeface="+mn-ea"/>
              </a:rPr>
              <a:t>선형회귀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(Linear Regression)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ko-KR" sz="2000" dirty="0" smtClean="0">
                <a:latin typeface="+mn-ea"/>
              </a:rPr>
              <a:t>데이터</a:t>
            </a:r>
            <a:r>
              <a:rPr lang="ko-KR" altLang="ko-KR" sz="2000" dirty="0">
                <a:latin typeface="+mn-ea"/>
              </a:rPr>
              <a:t> </a:t>
            </a:r>
            <a:r>
              <a:rPr lang="ko-KR" altLang="ko-KR" sz="2000" dirty="0" err="1" smtClean="0">
                <a:latin typeface="+mn-ea"/>
              </a:rPr>
              <a:t>x</a:t>
            </a:r>
            <a:r>
              <a:rPr lang="ko-KR" altLang="ko-KR" sz="2000" dirty="0" err="1">
                <a:latin typeface="+mn-ea"/>
              </a:rPr>
              <a:t>에</a:t>
            </a:r>
            <a:r>
              <a:rPr lang="ko-KR" altLang="ko-KR" sz="2000" dirty="0">
                <a:latin typeface="+mn-ea"/>
              </a:rPr>
              <a:t> 해당하는 실제 값으로 주어지는 타겟 </a:t>
            </a:r>
            <a:r>
              <a:rPr lang="ko-KR" altLang="ko-KR" sz="2000" dirty="0" err="1" smtClean="0">
                <a:latin typeface="+mn-ea"/>
              </a:rPr>
              <a:t>y</a:t>
            </a:r>
            <a:r>
              <a:rPr lang="ko-KR" altLang="ko-KR" sz="2000" dirty="0" err="1">
                <a:latin typeface="+mn-ea"/>
              </a:rPr>
              <a:t>를</a:t>
            </a:r>
            <a:r>
              <a:rPr lang="ko-KR" altLang="ko-KR" sz="2000" dirty="0">
                <a:latin typeface="+mn-ea"/>
              </a:rPr>
              <a:t> </a:t>
            </a:r>
            <a:r>
              <a:rPr lang="ko-KR" altLang="ko-KR" sz="2000" dirty="0" smtClean="0">
                <a:latin typeface="+mn-ea"/>
              </a:rPr>
              <a:t>예측</a:t>
            </a:r>
            <a:endParaRPr lang="ko-KR" altLang="en-US" sz="2000" dirty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의사결정 트리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(Decision Tree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)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smtClean="0">
                <a:latin typeface="+mn-ea"/>
              </a:rPr>
              <a:t>트리 </a:t>
            </a:r>
            <a:r>
              <a:rPr lang="ko-KR" altLang="en-US" sz="2000" dirty="0">
                <a:latin typeface="+mn-ea"/>
              </a:rPr>
              <a:t>구조 형태의 예측 모델로 의사를 결정하는 모델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나이브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베이즈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(Naive Bayes</a:t>
            </a:r>
            <a:r>
              <a:rPr lang="en-US" altLang="ko-KR" sz="2000" dirty="0" smtClean="0">
                <a:solidFill>
                  <a:srgbClr val="0070C0"/>
                </a:solidFill>
                <a:latin typeface="+mn-ea"/>
              </a:rPr>
              <a:t>) </a:t>
            </a:r>
            <a:r>
              <a:rPr lang="en-US" altLang="ko-KR" sz="2000" dirty="0" smtClean="0">
                <a:latin typeface="+mn-ea"/>
              </a:rPr>
              <a:t>: </a:t>
            </a:r>
            <a:r>
              <a:rPr lang="ko-KR" altLang="en-US" sz="2000" dirty="0" err="1" smtClean="0">
                <a:latin typeface="+mn-ea"/>
              </a:rPr>
              <a:t>베이즈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정리를 바탕으로 한 조건부 확률 모델 </a:t>
            </a:r>
            <a:r>
              <a:rPr lang="ko-KR" altLang="en-US" sz="2000" dirty="0" smtClean="0">
                <a:latin typeface="+mn-ea"/>
              </a:rPr>
              <a:t>분류</a:t>
            </a:r>
            <a:endParaRPr lang="en-US" altLang="ko-KR" sz="2000" dirty="0" smtClean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신경망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(Neural Network)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생물의 신경 네트워크 구조와 기능을 모방한 </a:t>
            </a:r>
            <a:r>
              <a:rPr lang="ko-KR" altLang="en-US" sz="2000" dirty="0" smtClean="0">
                <a:latin typeface="+mn-ea"/>
              </a:rPr>
              <a:t>모델</a:t>
            </a:r>
            <a:endParaRPr lang="en-US" altLang="ko-KR" sz="2000" dirty="0" smtClean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altLang="ko-KR" sz="2000" dirty="0" err="1" smtClean="0">
                <a:latin typeface="+mn-ea"/>
              </a:rPr>
              <a:t>Logsitic</a:t>
            </a:r>
            <a:r>
              <a:rPr lang="en-US" altLang="ko-KR" sz="2000" dirty="0" smtClean="0">
                <a:latin typeface="+mn-ea"/>
              </a:rPr>
              <a:t> Regression, </a:t>
            </a:r>
            <a:r>
              <a:rPr lang="en-US" altLang="ko-KR" sz="2000" dirty="0" err="1" smtClean="0">
                <a:latin typeface="+mn-ea"/>
              </a:rPr>
              <a:t>RandomForest</a:t>
            </a:r>
            <a:r>
              <a:rPr lang="en-US" altLang="ko-KR" sz="2000" dirty="0" smtClean="0">
                <a:latin typeface="+mn-ea"/>
              </a:rPr>
              <a:t>, SVM, GBM, </a:t>
            </a:r>
            <a:r>
              <a:rPr lang="en-US" altLang="ko-KR" sz="2000" dirty="0" err="1" smtClean="0">
                <a:latin typeface="+mn-ea"/>
              </a:rPr>
              <a:t>Xgboost</a:t>
            </a:r>
            <a:r>
              <a:rPr lang="en-US" altLang="ko-KR" sz="2000" dirty="0" smtClean="0">
                <a:latin typeface="+mn-ea"/>
              </a:rPr>
              <a:t> </a:t>
            </a:r>
            <a:r>
              <a:rPr lang="ko-KR" altLang="en-US" sz="2000" dirty="0" smtClean="0">
                <a:latin typeface="+mn-ea"/>
              </a:rPr>
              <a:t>등</a:t>
            </a:r>
            <a:endParaRPr lang="ko-KR" altLang="en-US" sz="2000" dirty="0">
              <a:latin typeface="+mn-ea"/>
            </a:endParaRPr>
          </a:p>
          <a:p>
            <a:pPr lvl="0" fontAlgn="base">
              <a:buFont typeface="Wingdings" panose="05000000000000000000" pitchFamily="2" charset="2"/>
              <a:buChar char="§"/>
            </a:pP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884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A83A63-0242-417A-9076-FC22EF24F053}"/>
              </a:ext>
            </a:extLst>
          </p:cNvPr>
          <p:cNvSpPr txBox="1"/>
          <p:nvPr/>
        </p:nvSpPr>
        <p:spPr>
          <a:xfrm>
            <a:off x="1041819" y="244279"/>
            <a:ext cx="3751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머신러닝의</a:t>
            </a:r>
            <a:r>
              <a:rPr lang="ko-KR" altLang="en-US" sz="3200" dirty="0"/>
              <a:t> 학습 방법</a:t>
            </a: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15413" y="1124744"/>
            <a:ext cx="1036915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머신러닝에서의</a:t>
            </a:r>
            <a:r>
              <a:rPr lang="ko-KR" altLang="en-US" dirty="0"/>
              <a:t> 학습 방법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1" dirty="0" smtClean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sym typeface="Wingdings" pitchFamily="2" charset="2"/>
              </a:rPr>
              <a:t> 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sym typeface="Wingdings" pitchFamily="2" charset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34600" y="515295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/>
                </a:solidFill>
              </a:rPr>
              <a:t>331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내용 개체 틀 4"/>
          <p:cNvSpPr txBox="1">
            <a:spLocks/>
          </p:cNvSpPr>
          <p:nvPr/>
        </p:nvSpPr>
        <p:spPr>
          <a:xfrm>
            <a:off x="1022934" y="1700808"/>
            <a:ext cx="10270165" cy="3600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학습의 형태에 따라 </a:t>
            </a:r>
            <a:r>
              <a:rPr lang="en-US" altLang="ko-KR" sz="2000" dirty="0">
                <a:latin typeface="+mn-ea"/>
              </a:rPr>
              <a:t>3</a:t>
            </a:r>
            <a:r>
              <a:rPr lang="ko-KR" altLang="en-US" sz="2000" dirty="0">
                <a:latin typeface="+mn-ea"/>
              </a:rPr>
              <a:t>가지 학습 방법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지도 학습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비지도 학습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강화 학습</a:t>
            </a:r>
            <a:r>
              <a:rPr lang="ko-KR" altLang="en-US" sz="2000" dirty="0">
                <a:latin typeface="+mn-ea"/>
              </a:rPr>
              <a:t>으로 구분</a:t>
            </a:r>
            <a:endParaRPr lang="en-US" altLang="ko-KR" sz="2000" dirty="0">
              <a:latin typeface="+mn-ea"/>
            </a:endParaRP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+mn-ea"/>
              </a:rPr>
              <a:t>지도학습은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분류와 회귀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비지도 학습은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클러스터링과 차원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축소</a:t>
            </a:r>
            <a:r>
              <a:rPr lang="ko-KR" altLang="en-US" sz="2000" dirty="0">
                <a:latin typeface="+mn-ea"/>
              </a:rPr>
              <a:t>로 다시 나누어짐 </a:t>
            </a:r>
          </a:p>
        </p:txBody>
      </p:sp>
      <p:pic>
        <p:nvPicPr>
          <p:cNvPr id="11266" name="Picture 2" descr="머신러닝 시스템의 종류와 텐서플로우 알고리즘 종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96" y="2921159"/>
            <a:ext cx="6845376" cy="372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048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스퀘어라운드 ExtraBold"/>
        <a:ea typeface="나눔스퀘어라운드 ExtraBold"/>
        <a:cs typeface=""/>
      </a:majorFont>
      <a:minorFont>
        <a:latin typeface="나눔스퀘어라운드 ExtraBold"/>
        <a:ea typeface="나눔스퀘어라운드 Extra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26041</TotalTime>
  <Words>448</Words>
  <Application>Microsoft Office PowerPoint</Application>
  <PresentationFormat>와이드스크린</PresentationFormat>
  <Paragraphs>89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Wingdings</vt:lpstr>
      <vt:lpstr>나눔스퀘어라운드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명호</dc:creator>
  <cp:lastModifiedBy>EGEG</cp:lastModifiedBy>
  <cp:revision>1444</cp:revision>
  <dcterms:created xsi:type="dcterms:W3CDTF">2020-03-14T09:06:26Z</dcterms:created>
  <dcterms:modified xsi:type="dcterms:W3CDTF">2025-08-11T04:44:10Z</dcterms:modified>
</cp:coreProperties>
</file>